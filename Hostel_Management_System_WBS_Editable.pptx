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83280" y="320040"/>
            <a:ext cx="5440680" cy="749808"/>
          </a:xfrm>
          <a:prstGeom prst="rect">
            <a:avLst/>
          </a:prstGeom>
          <a:solidFill>
            <a:srgbClr val="1C3D5E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HOSTEL MANAGEMENT SYSTEM
Overall Project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03620" y="1069848"/>
            <a:ext cx="0" cy="192024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280160" y="1261872"/>
            <a:ext cx="96194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1261872"/>
            <a:ext cx="0" cy="246888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7160" y="1508760"/>
            <a:ext cx="2286000" cy="960120"/>
          </a:xfrm>
          <a:prstGeom prst="rect">
            <a:avLst/>
          </a:prstGeom>
          <a:solidFill>
            <a:srgbClr val="427DBF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1.1
REQUIREMENTS &amp;
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2468880"/>
            <a:ext cx="2286000" cy="594360"/>
          </a:xfrm>
          <a:prstGeom prst="rect">
            <a:avLst/>
          </a:prstGeom>
          <a:solidFill>
            <a:srgbClr val="97D2FF"/>
          </a:solidFill>
          <a:ln w="12700">
            <a:solidFill>
              <a:srgbClr val="427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Define users, scope and schedule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05839" y="3063240"/>
            <a:ext cx="0" cy="77724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01751" y="384048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39" y="3840480"/>
            <a:ext cx="0" cy="155448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01751" y="438912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01751" y="539496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1751" y="4069080"/>
            <a:ext cx="1956816" cy="658368"/>
          </a:xfrm>
          <a:prstGeom prst="rect">
            <a:avLst/>
          </a:prstGeom>
          <a:solidFill>
            <a:srgbClr val="CADAED"/>
          </a:solidFill>
          <a:ln w="12700">
            <a:solidFill>
              <a:srgbClr val="427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1.1.1
User Requirements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1" y="5074920"/>
            <a:ext cx="1956816" cy="658368"/>
          </a:xfrm>
          <a:prstGeom prst="rect">
            <a:avLst/>
          </a:prstGeom>
          <a:solidFill>
            <a:srgbClr val="CADAED"/>
          </a:solidFill>
          <a:ln w="12700">
            <a:solidFill>
              <a:srgbClr val="427D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1.1.2
Scope &amp; Schedule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85031" y="1261872"/>
            <a:ext cx="0" cy="246888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542032" y="1508760"/>
            <a:ext cx="2286000" cy="960120"/>
          </a:xfrm>
          <a:prstGeom prst="rect">
            <a:avLst/>
          </a:prstGeom>
          <a:solidFill>
            <a:srgbClr val="2B9185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1.2
SYSTEM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2032" y="2468880"/>
            <a:ext cx="2286000" cy="594360"/>
          </a:xfrm>
          <a:prstGeom prst="rect">
            <a:avLst/>
          </a:prstGeom>
          <a:solidFill>
            <a:srgbClr val="80E6DA"/>
          </a:solidFill>
          <a:ln w="12700">
            <a:solidFill>
              <a:srgbClr val="2B9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Plan modules, UI and database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10711" y="3063240"/>
            <a:ext cx="0" cy="77724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706624" y="3840480"/>
            <a:ext cx="704087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10711" y="3840480"/>
            <a:ext cx="0" cy="155448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706624" y="4389120"/>
            <a:ext cx="704087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2706624" y="5394960"/>
            <a:ext cx="704087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706624" y="4069080"/>
            <a:ext cx="1956816" cy="658368"/>
          </a:xfrm>
          <a:prstGeom prst="rect">
            <a:avLst/>
          </a:prstGeom>
          <a:solidFill>
            <a:srgbClr val="C3E0DC"/>
          </a:solidFill>
          <a:ln w="12700">
            <a:solidFill>
              <a:srgbClr val="2B9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1.2.1
Module / UI Design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06624" y="5074920"/>
            <a:ext cx="1956816" cy="658368"/>
          </a:xfrm>
          <a:prstGeom prst="rect">
            <a:avLst/>
          </a:prstGeom>
          <a:solidFill>
            <a:srgbClr val="C3E0DC"/>
          </a:solidFill>
          <a:ln w="12700">
            <a:solidFill>
              <a:srgbClr val="2B9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1.2.2
Database Design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9904" y="1261872"/>
            <a:ext cx="0" cy="246888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946904" y="1508760"/>
            <a:ext cx="2286000" cy="960120"/>
          </a:xfrm>
          <a:prstGeom prst="rect">
            <a:avLst/>
          </a:prstGeom>
          <a:solidFill>
            <a:srgbClr val="675BA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1.3
DEVELOPMENT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6904" y="2468880"/>
            <a:ext cx="2286000" cy="594360"/>
          </a:xfrm>
          <a:prstGeom prst="rect">
            <a:avLst/>
          </a:prstGeom>
          <a:solidFill>
            <a:srgbClr val="BCB0FF"/>
          </a:solidFill>
          <a:ln w="12700">
            <a:solidFill>
              <a:srgbClr val="675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Build and integrate core modules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15584" y="3063240"/>
            <a:ext cx="0" cy="77724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111496" y="384048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15584" y="3840480"/>
            <a:ext cx="0" cy="155448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111496" y="438912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111496" y="539496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111496" y="4069080"/>
            <a:ext cx="1956816" cy="658368"/>
          </a:xfrm>
          <a:prstGeom prst="rect">
            <a:avLst/>
          </a:prstGeom>
          <a:solidFill>
            <a:srgbClr val="D4D1E7"/>
          </a:solidFill>
          <a:ln w="12700">
            <a:solidFill>
              <a:srgbClr val="675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1.3.1
Student / Room / Fee
Modules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1496" y="5074920"/>
            <a:ext cx="1956816" cy="658368"/>
          </a:xfrm>
          <a:prstGeom prst="rect">
            <a:avLst/>
          </a:prstGeom>
          <a:solidFill>
            <a:srgbClr val="D4D1E7"/>
          </a:solidFill>
          <a:ln w="12700">
            <a:solidFill>
              <a:srgbClr val="675B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1.3.2
Admin Integration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94776" y="1261872"/>
            <a:ext cx="0" cy="246888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351775" y="1508760"/>
            <a:ext cx="2286000" cy="960120"/>
          </a:xfrm>
          <a:prstGeom prst="rect">
            <a:avLst/>
          </a:prstGeom>
          <a:solidFill>
            <a:srgbClr val="DE7E2B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1.4
TESTING &amp; QA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51775" y="2468880"/>
            <a:ext cx="2286000" cy="594360"/>
          </a:xfrm>
          <a:prstGeom prst="rect">
            <a:avLst/>
          </a:prstGeom>
          <a:solidFill>
            <a:srgbClr val="FFD380"/>
          </a:solidFill>
          <a:ln w="12700">
            <a:solidFill>
              <a:srgbClr val="DE7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Validate functions and fix defects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220455" y="3063240"/>
            <a:ext cx="0" cy="77724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516367" y="384048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20455" y="3840480"/>
            <a:ext cx="0" cy="155448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516367" y="438912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7516367" y="539496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516367" y="4069080"/>
            <a:ext cx="1956816" cy="658368"/>
          </a:xfrm>
          <a:prstGeom prst="rect">
            <a:avLst/>
          </a:prstGeom>
          <a:solidFill>
            <a:srgbClr val="F5DAC3"/>
          </a:solidFill>
          <a:ln w="12700">
            <a:solidFill>
              <a:srgbClr val="DE7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1.4.1
Functional Testing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6367" y="5074920"/>
            <a:ext cx="1956816" cy="658368"/>
          </a:xfrm>
          <a:prstGeom prst="rect">
            <a:avLst/>
          </a:prstGeom>
          <a:solidFill>
            <a:srgbClr val="F5DAC3"/>
          </a:solidFill>
          <a:ln w="12700">
            <a:solidFill>
              <a:srgbClr val="DE7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1.4.2
Defect Verification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899648" y="1261872"/>
            <a:ext cx="0" cy="246888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756648" y="1508760"/>
            <a:ext cx="2286000" cy="960120"/>
          </a:xfrm>
          <a:prstGeom prst="rect">
            <a:avLst/>
          </a:prstGeom>
          <a:solidFill>
            <a:srgbClr val="B85252"/>
          </a:solidFill>
          <a:ln w="1270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1.5
DEPLOYMENT &amp;
HANDOVER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56648" y="2468880"/>
            <a:ext cx="2286000" cy="594360"/>
          </a:xfrm>
          <a:prstGeom prst="rect">
            <a:avLst/>
          </a:prstGeom>
          <a:solidFill>
            <a:srgbClr val="FFA7A7"/>
          </a:solidFill>
          <a:ln w="12700">
            <a:solidFill>
              <a:srgbClr val="B8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191919"/>
                </a:solidFill>
                <a:latin typeface="Arial"/>
              </a:rPr>
              <a:t>Release, document and train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625328" y="3063240"/>
            <a:ext cx="0" cy="77724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921240" y="384048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25328" y="3840480"/>
            <a:ext cx="0" cy="155448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921240" y="438912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921240" y="5394960"/>
            <a:ext cx="704088" cy="0"/>
          </a:xfrm>
          <a:prstGeom prst="line">
            <a:avLst/>
          </a:prstGeom>
          <a:ln w="19050">
            <a:solidFill>
              <a:srgbClr val="2D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921240" y="4069080"/>
            <a:ext cx="1956816" cy="658368"/>
          </a:xfrm>
          <a:prstGeom prst="rect">
            <a:avLst/>
          </a:prstGeom>
          <a:solidFill>
            <a:srgbClr val="EBCECE"/>
          </a:solidFill>
          <a:ln w="12700">
            <a:solidFill>
              <a:srgbClr val="B8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1.5.1
Deployment Setup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21240" y="5074920"/>
            <a:ext cx="1956816" cy="658368"/>
          </a:xfrm>
          <a:prstGeom prst="rect">
            <a:avLst/>
          </a:prstGeom>
          <a:solidFill>
            <a:srgbClr val="EBCECE"/>
          </a:solidFill>
          <a:ln w="12700">
            <a:solidFill>
              <a:srgbClr val="B8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Arial"/>
              </a:rPr>
              <a:t>1.5.2
Documentation &amp;
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8880" y="5989320"/>
            <a:ext cx="7269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84B6E"/>
                </a:solidFill>
                <a:latin typeface="Arial"/>
              </a:rPr>
              <a:t>Figure 1. Work Breakdown Structure of the Hostel Management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" y="6473952"/>
            <a:ext cx="1179576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0">
                <a:solidFill>
                  <a:srgbClr val="646464"/>
                </a:solidFill>
                <a:latin typeface="Arial"/>
              </a:rPr>
              <a:t>Editable elements: every box, text, connector, color and layout can be modified.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